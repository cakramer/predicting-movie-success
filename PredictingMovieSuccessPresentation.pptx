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dicting Movie Succes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Predicting Movie Success</a:t>
            </a:r>
          </a:p>
        </p:txBody>
      </p:sp>
      <p:sp>
        <p:nvSpPr>
          <p:cNvPr id="173" name="Is a Big Budget Enough?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a Big Budget Enough?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roposal"/>
          <p:cNvSpPr txBox="1"/>
          <p:nvPr>
            <p:ph type="title"/>
          </p:nvPr>
        </p:nvSpPr>
        <p:spPr>
          <a:xfrm>
            <a:off x="688192" y="894558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Proposal</a:t>
            </a:r>
          </a:p>
        </p:txBody>
      </p:sp>
      <p:sp>
        <p:nvSpPr>
          <p:cNvPr id="176" name="Is it possible to use a movie’s production budget and critic scores to determine if it will be a hit or miss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it possible to use a movie’s production budget and critic scores to determine if it will be a hit or miss?</a:t>
            </a:r>
          </a:p>
          <a:p>
            <a:pPr/>
            <a:r>
              <a:t>Does a high budget always mean movie success?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Data Sources"/>
          <p:cNvSpPr txBox="1"/>
          <p:nvPr>
            <p:ph type="title"/>
          </p:nvPr>
        </p:nvSpPr>
        <p:spPr>
          <a:xfrm>
            <a:off x="923786" y="1077359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Data Sources</a:t>
            </a:r>
          </a:p>
        </p:txBody>
      </p:sp>
      <p:sp>
        <p:nvSpPr>
          <p:cNvPr id="179" name="The Movie Database (TMDB) 5000 Movie Datase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6927" indent="-566927" defTabSz="2267655">
              <a:spcBef>
                <a:spcPts val="4100"/>
              </a:spcBef>
              <a:defRPr sz="4464"/>
            </a:pPr>
            <a:r>
              <a:t>The Movie Database (TMDB) 5000 Movie Dataset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Available on Kaggle as a CSV download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Includes: title, budget, production company, revenue and some critic metrics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Open Movie Database (OMDb) 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API RESTful web service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Requires API key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Includes: IMDb ID, title, plot, type, Rotten Tomato scores, ratings, votes and award info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isks and Ethical Implications"/>
          <p:cNvSpPr txBox="1"/>
          <p:nvPr>
            <p:ph type="title"/>
          </p:nvPr>
        </p:nvSpPr>
        <p:spPr>
          <a:xfrm>
            <a:off x="947346" y="1077359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Risks and Ethical Implications</a:t>
            </a:r>
          </a:p>
        </p:txBody>
      </p:sp>
      <p:sp>
        <p:nvSpPr>
          <p:cNvPr id="182" name="All assumptions were documented during analysi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assumptions were documented during analysis</a:t>
            </a:r>
          </a:p>
          <a:p>
            <a:pPr lvl="1"/>
            <a:r>
              <a:t>$0 budget and $0 revenue entries were removed</a:t>
            </a:r>
          </a:p>
          <a:p>
            <a:pPr/>
            <a:r>
              <a:t>OMDb API</a:t>
            </a:r>
          </a:p>
          <a:p>
            <a:pPr lvl="1"/>
            <a:r>
              <a:t>Follow attribution guidelines</a:t>
            </a:r>
          </a:p>
          <a:p>
            <a:pPr lvl="1"/>
            <a:r>
              <a:t>Utilized API key and kept within the 1,000/calls a day limit</a:t>
            </a:r>
          </a:p>
          <a:p>
            <a:pPr/>
            <a:r>
              <a:t>Created new column, </a:t>
            </a:r>
            <a:r>
              <a:rPr i="1"/>
              <a:t>Simplified_Title,</a:t>
            </a:r>
            <a:r>
              <a:t> for matching movie titles across the datasets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Model Choice &amp; Metrics"/>
          <p:cNvSpPr txBox="1"/>
          <p:nvPr>
            <p:ph type="title"/>
          </p:nvPr>
        </p:nvSpPr>
        <p:spPr>
          <a:xfrm>
            <a:off x="876668" y="1077359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Model Choice &amp; Metrics</a:t>
            </a:r>
          </a:p>
        </p:txBody>
      </p:sp>
      <p:sp>
        <p:nvSpPr>
          <p:cNvPr id="185" name="Using Regression Modeling to predict box office revenu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0831" indent="-560831" defTabSz="2243271">
              <a:spcBef>
                <a:spcPts val="4100"/>
              </a:spcBef>
              <a:defRPr sz="4416"/>
            </a:pPr>
            <a:r>
              <a:t>Using Regression Modeling to predict box office revenue</a:t>
            </a:r>
          </a:p>
          <a:p>
            <a:pPr lvl="1" marL="1121663" indent="-560831" defTabSz="2243271">
              <a:spcBef>
                <a:spcPts val="4100"/>
              </a:spcBef>
              <a:defRPr sz="4416"/>
            </a:pPr>
            <a:r>
              <a:t>Based on budget and critic scores</a:t>
            </a:r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Evaluation for Regression Models focuses on the error</a:t>
            </a:r>
          </a:p>
          <a:p>
            <a:pPr lvl="1" marL="1121663" indent="-560831" defTabSz="2243271">
              <a:spcBef>
                <a:spcPts val="4100"/>
              </a:spcBef>
              <a:defRPr sz="4416"/>
            </a:pPr>
            <a:r>
              <a:t>Mean Absolute Error (MAE): the average of the absolute differences between the actual and predicted values</a:t>
            </a:r>
          </a:p>
          <a:p>
            <a:pPr lvl="1" marL="1121663" indent="-560831" defTabSz="2243271">
              <a:spcBef>
                <a:spcPts val="4100"/>
              </a:spcBef>
              <a:defRPr sz="4416"/>
            </a:pPr>
            <a:r>
              <a:t>Root Mean Squared Error (RMSE): Square root of the average of squared differences between actual and predicted values</a:t>
            </a:r>
          </a:p>
          <a:p>
            <a:pPr lvl="1" marL="1121663" indent="-560831" defTabSz="2243271">
              <a:spcBef>
                <a:spcPts val="4100"/>
              </a:spcBef>
              <a:defRPr sz="4416"/>
            </a:pPr>
            <a:r>
              <a:t>R-Squared: The coefficient of determination that shows how well the independent variables explain the variability of the dependent target variable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Exploratory Data Analysis and Visualizations"/>
          <p:cNvSpPr txBox="1"/>
          <p:nvPr>
            <p:ph type="title"/>
          </p:nvPr>
        </p:nvSpPr>
        <p:spPr>
          <a:xfrm>
            <a:off x="1206500" y="17779"/>
            <a:ext cx="21971000" cy="1433164"/>
          </a:xfrm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Exploratory Data Analysis and Visualizations</a:t>
            </a:r>
          </a:p>
        </p:txBody>
      </p:sp>
      <p:pic>
        <p:nvPicPr>
          <p:cNvPr id="188" name="Image 7-19-26 at 9.45 AM.png" descr="Image 7-19-26 at 9.4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5181" y="1578088"/>
            <a:ext cx="20133638" cy="121910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Assessing Multicollinearity"/>
          <p:cNvSpPr txBox="1"/>
          <p:nvPr>
            <p:ph type="title"/>
          </p:nvPr>
        </p:nvSpPr>
        <p:spPr>
          <a:xfrm>
            <a:off x="1206500" y="40235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Assessing Multicollinearity</a:t>
            </a:r>
          </a:p>
        </p:txBody>
      </p:sp>
      <p:pic>
        <p:nvPicPr>
          <p:cNvPr id="191" name="Image 7-19-26 at 9.50 AM.png" descr="Image 7-19-26 at 9.5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9653" y="2476258"/>
            <a:ext cx="12224860" cy="1110139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Focused Matrix to Budget, Revenue, IMDb Rating, Rotten Tomatoes Score, Metacritic Score, and Popularity Score…"/>
          <p:cNvSpPr txBox="1"/>
          <p:nvPr>
            <p:ph type="body" sz="half" idx="1"/>
          </p:nvPr>
        </p:nvSpPr>
        <p:spPr>
          <a:xfrm>
            <a:off x="13112114" y="2726092"/>
            <a:ext cx="10065386" cy="9778424"/>
          </a:xfrm>
          <a:prstGeom prst="rect">
            <a:avLst/>
          </a:prstGeom>
        </p:spPr>
        <p:txBody>
          <a:bodyPr/>
          <a:lstStyle/>
          <a:p>
            <a:pPr/>
            <a:r>
              <a:t>Focused Matrix to Budget, Revenue, IMDb Rating, Rotten Tomatoes Score, Metacritic Score, and Popularity Score</a:t>
            </a:r>
          </a:p>
          <a:p>
            <a:pPr/>
            <a:r>
              <a:t>Metacritic Score and Rotten Tomatoes Score show a high coefficient variance at 0.92</a:t>
            </a:r>
          </a:p>
          <a:p>
            <a:pPr/>
            <a:r>
              <a:t>Lead to new feature engineering of a Combined Score</a:t>
            </a:r>
          </a:p>
          <a:p>
            <a:pPr/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75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num>
                    <m:den>
                      <m:r>
                        <a:rPr xmlns:a="http://schemas.openxmlformats.org/drawingml/2006/main" sz="375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</m:oMath>
              </m:oMathPara>
            </a14:m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Validating Distribution of the Revenue"/>
          <p:cNvSpPr txBox="1"/>
          <p:nvPr>
            <p:ph type="title"/>
          </p:nvPr>
        </p:nvSpPr>
        <p:spPr>
          <a:xfrm>
            <a:off x="1206500" y="777298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Validating Distribution of the Revenue</a:t>
            </a:r>
          </a:p>
        </p:txBody>
      </p:sp>
      <p:sp>
        <p:nvSpPr>
          <p:cNvPr id="195" name="Revenue is highly right skewed"/>
          <p:cNvSpPr txBox="1"/>
          <p:nvPr>
            <p:ph type="body" sz="quarter" idx="1"/>
          </p:nvPr>
        </p:nvSpPr>
        <p:spPr>
          <a:xfrm>
            <a:off x="1454784" y="11505538"/>
            <a:ext cx="10621963" cy="1882517"/>
          </a:xfrm>
          <a:prstGeom prst="rect">
            <a:avLst/>
          </a:prstGeom>
        </p:spPr>
        <p:txBody>
          <a:bodyPr/>
          <a:lstStyle/>
          <a:p>
            <a:pPr/>
            <a:r>
              <a:t>Revenue is highly right skewed</a:t>
            </a:r>
          </a:p>
        </p:txBody>
      </p:sp>
      <p:pic>
        <p:nvPicPr>
          <p:cNvPr id="196" name="Image 7-19-26 at 9.56 AM.png" descr="Image 7-19-26 at 9.5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9341" y="2845616"/>
            <a:ext cx="23854445" cy="8024768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Log Revenue is more even with a longer left-skew tail"/>
          <p:cNvSpPr txBox="1"/>
          <p:nvPr/>
        </p:nvSpPr>
        <p:spPr>
          <a:xfrm>
            <a:off x="12982892" y="11505538"/>
            <a:ext cx="10621963" cy="1882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>
              <a:buSzPct val="123000"/>
              <a:buChar char="•"/>
            </a:lvl1pPr>
          </a:lstStyle>
          <a:p>
            <a:pPr/>
            <a:r>
              <a:t>Log Revenue is more even with a longer left-skew tail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Validation for Linearity of Feature and Target Variable"/>
          <p:cNvSpPr txBox="1"/>
          <p:nvPr>
            <p:ph type="title"/>
          </p:nvPr>
        </p:nvSpPr>
        <p:spPr>
          <a:xfrm>
            <a:off x="1206500" y="823880"/>
            <a:ext cx="21971000" cy="1433164"/>
          </a:xfrm>
          <a:prstGeom prst="rect">
            <a:avLst/>
          </a:prstGeom>
        </p:spPr>
        <p:txBody>
          <a:bodyPr/>
          <a:lstStyle>
            <a:lvl1pPr defTabSz="2048204">
              <a:defRPr spc="-142" sz="7140"/>
            </a:lvl1pPr>
          </a:lstStyle>
          <a:p>
            <a:pPr/>
            <a:r>
              <a:t>Validation for Linearity of Feature and Target Variable</a:t>
            </a:r>
          </a:p>
        </p:txBody>
      </p:sp>
      <p:sp>
        <p:nvSpPr>
          <p:cNvPr id="200" name="Log Revenue and Rotten Tomatoes Score…"/>
          <p:cNvSpPr txBox="1"/>
          <p:nvPr>
            <p:ph type="body" sz="quarter" idx="1"/>
          </p:nvPr>
        </p:nvSpPr>
        <p:spPr>
          <a:xfrm>
            <a:off x="16845122" y="4248504"/>
            <a:ext cx="6332379" cy="8256012"/>
          </a:xfrm>
          <a:prstGeom prst="rect">
            <a:avLst/>
          </a:prstGeom>
        </p:spPr>
        <p:txBody>
          <a:bodyPr/>
          <a:lstStyle/>
          <a:p>
            <a:pPr/>
            <a:r>
              <a:t>Log Revenue and Rotten Tomatoes Score</a:t>
            </a:r>
          </a:p>
          <a:p>
            <a:pPr/>
            <a:r>
              <a:t>Linear assumption is reasonable for this data</a:t>
            </a:r>
          </a:p>
        </p:txBody>
      </p:sp>
      <p:pic>
        <p:nvPicPr>
          <p:cNvPr id="201" name="Image 7-19-26 at 10.05 AM.png" descr="Image 7-19-26 at 10.0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8715" y="4030350"/>
            <a:ext cx="16117538" cy="8692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Multiple Linear Regression"/>
          <p:cNvSpPr txBox="1"/>
          <p:nvPr>
            <p:ph type="title"/>
          </p:nvPr>
        </p:nvSpPr>
        <p:spPr>
          <a:xfrm>
            <a:off x="923786" y="1077359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Multiple Linear Regression</a:t>
            </a:r>
          </a:p>
        </p:txBody>
      </p:sp>
      <p:sp>
        <p:nvSpPr>
          <p:cNvPr id="204" name="Results: R^2: 0.3802 | MAE: $525.26M | RMSE: $5896.79M…"/>
          <p:cNvSpPr txBox="1"/>
          <p:nvPr>
            <p:ph type="body" idx="1"/>
          </p:nvPr>
        </p:nvSpPr>
        <p:spPr>
          <a:xfrm>
            <a:off x="1206500" y="3700748"/>
            <a:ext cx="21971000" cy="8256011"/>
          </a:xfrm>
          <a:prstGeom prst="rect">
            <a:avLst/>
          </a:prstGeom>
        </p:spPr>
        <p:txBody>
          <a:bodyPr/>
          <a:lstStyle/>
          <a:p>
            <a:pPr/>
            <a:r>
              <a:rPr b="1"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Results</a:t>
            </a: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: R^2: 0.3802 | MAE: $525.26M | RMSE: $5896.79M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Uses multiple independent features to predict the target variable of revenue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Trained using log transformed numbers to minimize the gap between smaller films and blockbuster hits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Inverse transformed log values using Duan’s Smearing Factor to report in actual dollar amounts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Optimized Decision Tree Regressor"/>
          <p:cNvSpPr txBox="1"/>
          <p:nvPr>
            <p:ph type="title"/>
          </p:nvPr>
        </p:nvSpPr>
        <p:spPr>
          <a:xfrm>
            <a:off x="970905" y="823880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Optimized Decision Tree Regressor</a:t>
            </a:r>
          </a:p>
        </p:txBody>
      </p:sp>
      <p:sp>
        <p:nvSpPr>
          <p:cNvPr id="207" name="Results: R^2: 0.6610 | MAE: $64.58M | RMSE: $122.28M…"/>
          <p:cNvSpPr txBox="1"/>
          <p:nvPr>
            <p:ph type="body" idx="1"/>
          </p:nvPr>
        </p:nvSpPr>
        <p:spPr>
          <a:xfrm>
            <a:off x="1206500" y="348223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rPr b="1"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Results</a:t>
            </a: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: R^2: 0.6610 | MAE: $64.58M | RMSE: $122.28M 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Handles non-linearity and feature interactions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i.e. high budget may yield a high revenue only if it’s paired with high audience engagement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Tree model makes decisions using step-wise threshold splits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Included hyperparameter tuning using a 5-fold cross validation grid search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/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The highest R-Squared value on the training data was used for the unseen test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andom Forest Regression"/>
          <p:cNvSpPr txBox="1"/>
          <p:nvPr>
            <p:ph type="title"/>
          </p:nvPr>
        </p:nvSpPr>
        <p:spPr>
          <a:xfrm>
            <a:off x="1206500" y="60960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Random Forest Regression</a:t>
            </a:r>
          </a:p>
        </p:txBody>
      </p:sp>
      <p:sp>
        <p:nvSpPr>
          <p:cNvPr id="210" name="Results: R^2: 0.7252 | MAE: $57.90M | RMSE: $110.10M…"/>
          <p:cNvSpPr txBox="1"/>
          <p:nvPr>
            <p:ph type="body" idx="1"/>
          </p:nvPr>
        </p:nvSpPr>
        <p:spPr>
          <a:xfrm>
            <a:off x="1003300" y="1932024"/>
            <a:ext cx="21971000" cy="11360209"/>
          </a:xfrm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b="1"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Results</a:t>
            </a: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: R^2: 0.7252 | MAE: $57.90M | RMSE: $110.10M 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Ensemble of multiple independent decision trees on bootstrapped subsets of the data and then averages their predictions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Provides better results through elimination of variance issues in single decision trees due to bagging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Handles non-linear feature interactions well and robust to multicollinearity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Feature Importance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Total Votes: 58.4%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Budget: 29.6%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Popularity: 5.6%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Combined Score: 3.6%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IMDb Rating: 2.8%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andom Forest Regression with Tuning and Optimizations"/>
          <p:cNvSpPr txBox="1"/>
          <p:nvPr>
            <p:ph type="title"/>
          </p:nvPr>
        </p:nvSpPr>
        <p:spPr>
          <a:xfrm>
            <a:off x="876668" y="258454"/>
            <a:ext cx="21971001" cy="1433163"/>
          </a:xfrm>
          <a:prstGeom prst="rect">
            <a:avLst/>
          </a:prstGeom>
        </p:spPr>
        <p:txBody>
          <a:bodyPr/>
          <a:lstStyle>
            <a:lvl1pPr defTabSz="1853137">
              <a:defRPr spc="-129" sz="6460"/>
            </a:lvl1pPr>
          </a:lstStyle>
          <a:p>
            <a:pPr/>
            <a:r>
              <a:t>Random Forest Regression with Tuning and Optimizations</a:t>
            </a:r>
          </a:p>
        </p:txBody>
      </p:sp>
      <p:sp>
        <p:nvSpPr>
          <p:cNvPr id="213" name="Results: R^2: 0.7393 | MAE: $58.54M | RMSE: $107.25M…"/>
          <p:cNvSpPr txBox="1"/>
          <p:nvPr>
            <p:ph type="body" idx="1"/>
          </p:nvPr>
        </p:nvSpPr>
        <p:spPr>
          <a:xfrm>
            <a:off x="1206500" y="1810104"/>
            <a:ext cx="21971000" cy="11503084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rPr b="1"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Results</a:t>
            </a: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: R^2: 0.7393 | MAE: $58.54M | RMSE: $107.25M 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 b="1"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Optimal Parameters</a:t>
            </a: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: Max Depth: 10 | Max Features: 0.4 | Minimum Samples Leaf: 1 | Minimum Samples Split: 2 | N Estimators: 500 | Duan Smearing Factor: 1.2965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Tuning with randomized search to sample broadly across the wide parameter distributions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Log transformed: Revenue, Budget, and Total votes to compress the skewed predictors for more granular splits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>
                <a:solidFill>
                  <a:srgbClr val="262626"/>
                </a:solidFill>
                <a:uFill>
                  <a:solidFill>
                    <a:srgbClr val="262626"/>
                  </a:solidFill>
                </a:uFill>
              </a:rPr>
              <a:t>Engineered new Features</a:t>
            </a:r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182624" indent="-591312" defTabSz="2365188">
              <a:spcBef>
                <a:spcPts val="4300"/>
              </a:spcBef>
              <a:defRPr sz="4656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num>
                    <m:den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600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den>
                  </m:f>
                </m:oMath>
              </m:oMathPara>
            </a14:m>
            <a:endParaRPr>
              <a:solidFill>
                <a:srgbClr val="262626"/>
              </a:solidFill>
              <a:uFill>
                <a:solidFill>
                  <a:srgbClr val="262626"/>
                </a:solidFill>
              </a:uFill>
            </a:endParaRPr>
          </a:p>
          <a:p>
            <a:pPr lvl="1" marL="1182624" indent="-591312" defTabSz="2365188">
              <a:spcBef>
                <a:spcPts val="4300"/>
              </a:spcBef>
              <a:defRPr sz="4656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×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10</m:t>
                  </m:r>
                  <m:r>
                    <a:rPr xmlns:a="http://schemas.openxmlformats.org/drawingml/2006/main" sz="5600" i="1">
                      <a:solidFill>
                        <a:srgbClr val="262626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Feature Importance:…"/>
          <p:cNvSpPr txBox="1"/>
          <p:nvPr>
            <p:ph type="body" idx="1"/>
          </p:nvPr>
        </p:nvSpPr>
        <p:spPr>
          <a:xfrm>
            <a:off x="15796260" y="3057085"/>
            <a:ext cx="21971001" cy="10638849"/>
          </a:xfrm>
          <a:prstGeom prst="rect">
            <a:avLst/>
          </a:prstGeom>
        </p:spPr>
        <p:txBody>
          <a:bodyPr/>
          <a:lstStyle/>
          <a:p>
            <a:pPr/>
            <a:r>
              <a:t>Feature Importance:</a:t>
            </a:r>
          </a:p>
          <a:p>
            <a:pPr lvl="1"/>
            <a:r>
              <a:t>Log Budget: 26.86%</a:t>
            </a:r>
          </a:p>
          <a:p>
            <a:pPr lvl="1"/>
            <a:r>
              <a:t>Log Votes: 26.33%</a:t>
            </a:r>
          </a:p>
          <a:p>
            <a:pPr lvl="1"/>
            <a:r>
              <a:t>Popularity Score: 20.95%</a:t>
            </a:r>
          </a:p>
          <a:p>
            <a:pPr lvl="1"/>
            <a:r>
              <a:t>Budget Per Vote: 13.88%</a:t>
            </a:r>
          </a:p>
          <a:p>
            <a:pPr lvl="1"/>
            <a:r>
              <a:t>Combined Score: 4.08%</a:t>
            </a:r>
          </a:p>
          <a:p>
            <a:pPr lvl="1"/>
            <a:r>
              <a:t>Critic User Diff: 3.97%</a:t>
            </a:r>
          </a:p>
          <a:p>
            <a:pPr lvl="1"/>
            <a:r>
              <a:t>IMDb Rating: 3.95%</a:t>
            </a:r>
          </a:p>
        </p:txBody>
      </p:sp>
      <p:sp>
        <p:nvSpPr>
          <p:cNvPr id="216" name="Random Forest Regression with Tuning and Optimizations…"/>
          <p:cNvSpPr txBox="1"/>
          <p:nvPr>
            <p:ph type="title"/>
          </p:nvPr>
        </p:nvSpPr>
        <p:spPr>
          <a:xfrm>
            <a:off x="1206500" y="517607"/>
            <a:ext cx="21971000" cy="1433164"/>
          </a:xfrm>
          <a:prstGeom prst="rect">
            <a:avLst/>
          </a:prstGeom>
        </p:spPr>
        <p:txBody>
          <a:bodyPr/>
          <a:lstStyle/>
          <a:p>
            <a:pPr defTabSz="1365469">
              <a:defRPr spc="-95" sz="4760"/>
            </a:pPr>
            <a:r>
              <a:t>Random Forest Regression with Tuning and Optimizations </a:t>
            </a:r>
          </a:p>
          <a:p>
            <a:pPr defTabSz="1365469">
              <a:defRPr spc="-95" sz="4760"/>
            </a:pPr>
            <a:r>
              <a:t>Feature Importance</a:t>
            </a:r>
          </a:p>
        </p:txBody>
      </p:sp>
      <p:pic>
        <p:nvPicPr>
          <p:cNvPr id="217" name="Image 8-15-26 at 10.17 AM.png" descr="Image 8-15-26 at 10.1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413" y="2988887"/>
            <a:ext cx="15537588" cy="94028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onclusion &amp; Recommendation"/>
          <p:cNvSpPr txBox="1"/>
          <p:nvPr>
            <p:ph type="title"/>
          </p:nvPr>
        </p:nvSpPr>
        <p:spPr>
          <a:xfrm>
            <a:off x="1206500" y="228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Conclusion &amp; Recommendation</a:t>
            </a:r>
          </a:p>
        </p:txBody>
      </p:sp>
      <p:sp>
        <p:nvSpPr>
          <p:cNvPr id="220" name="Budget alone is not enough to predict the financial success of a film…"/>
          <p:cNvSpPr txBox="1"/>
          <p:nvPr>
            <p:ph type="body" idx="1"/>
          </p:nvPr>
        </p:nvSpPr>
        <p:spPr>
          <a:xfrm>
            <a:off x="1206500" y="2641094"/>
            <a:ext cx="21971000" cy="10731083"/>
          </a:xfrm>
          <a:prstGeom prst="rect">
            <a:avLst/>
          </a:prstGeom>
        </p:spPr>
        <p:txBody>
          <a:bodyPr/>
          <a:lstStyle/>
          <a:p>
            <a:pPr/>
            <a:r>
              <a:t>Budget alone is not enough to predict the financial success of a film</a:t>
            </a:r>
          </a:p>
          <a:p>
            <a:pPr/>
            <a:r>
              <a:t>Audience engagement is a large predictor of film success</a:t>
            </a:r>
          </a:p>
          <a:p>
            <a:pPr/>
            <a:r>
              <a:t>Optimized Random Forest could be used, while critical limitations must be considered</a:t>
            </a:r>
          </a:p>
          <a:p>
            <a:pPr/>
            <a:r>
              <a:t>Reliable tool for mid-tier studio with post-release tracking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